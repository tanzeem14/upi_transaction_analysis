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embeddedFontLst>
    <p:embeddedFont>
      <p:font typeface="Marcellus" panose="020B0604020202020204" charset="0"/>
      <p:regular r:id="rId20"/>
    </p:embeddedFont>
    <p:embeddedFont>
      <p:font typeface="Montserrat" panose="00000500000000000000" pitchFamily="2" charset="0"/>
      <p:regular r:id="rId21"/>
    </p:embeddedFont>
    <p:embeddedFont>
      <p:font typeface="Montserrat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87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4823"/>
            <a:ext cx="8151763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800" kern="0" spc="-2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UPI Transactions Dashboard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1357982"/>
            <a:ext cx="8151763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Analysis of Digital Payment Trends in India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96119" y="1775743"/>
            <a:ext cx="8151763" cy="462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Period: January 2024 – July 2024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Source: Kaggle | Tool: Microsoft Power BI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377306"/>
            <a:ext cx="8151763" cy="1459260"/>
          </a:xfrm>
          <a:prstGeom prst="roundRect">
            <a:avLst>
              <a:gd name="adj" fmla="val 3570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406" y="2391594"/>
            <a:ext cx="4061594" cy="715342"/>
          </a:xfrm>
          <a:custGeom>
            <a:avLst/>
            <a:gdLst/>
            <a:ahLst/>
            <a:cxnLst/>
            <a:rect l="l" t="t" r="r" b="b"/>
            <a:pathLst>
              <a:path w="4061594" h="715342">
                <a:moveTo>
                  <a:pt x="43416" y="0"/>
                </a:moveTo>
                <a:lnTo>
                  <a:pt x="4061594" y="0"/>
                </a:lnTo>
                <a:lnTo>
                  <a:pt x="4061594" y="715342"/>
                </a:lnTo>
                <a:lnTo>
                  <a:pt x="0" y="715342"/>
                </a:lnTo>
                <a:lnTo>
                  <a:pt x="0" y="43416"/>
                </a:lnTo>
                <a:arcTo wR="43416" hR="43416" stAng="10800000" swAng="5400000"/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7" name="Text 5"/>
          <p:cNvSpPr/>
          <p:nvPr/>
        </p:nvSpPr>
        <p:spPr>
          <a:xfrm>
            <a:off x="634380" y="2515567"/>
            <a:ext cx="381364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Period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380" y="2821707"/>
            <a:ext cx="381364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2024 – Jul 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2391594"/>
            <a:ext cx="4061594" cy="715342"/>
          </a:xfrm>
          <a:custGeom>
            <a:avLst/>
            <a:gdLst/>
            <a:ahLst/>
            <a:cxnLst/>
            <a:rect l="l" t="t" r="r" b="b"/>
            <a:pathLst>
              <a:path w="4061594" h="715342">
                <a:moveTo>
                  <a:pt x="0" y="0"/>
                </a:moveTo>
                <a:lnTo>
                  <a:pt x="4018178" y="0"/>
                </a:lnTo>
                <a:arcTo wR="43416" hR="43416" stAng="16200000" swAng="5400000"/>
                <a:lnTo>
                  <a:pt x="4061594" y="715342"/>
                </a:lnTo>
                <a:lnTo>
                  <a:pt x="0" y="715342"/>
                </a:lnTo>
                <a:lnTo>
                  <a:pt x="0" y="0"/>
                </a:lnTo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391594"/>
            <a:ext cx="14288" cy="715342"/>
          </a:xfrm>
          <a:prstGeom prst="roundRect">
            <a:avLst>
              <a:gd name="adj" fmla="val 49998"/>
            </a:avLst>
          </a:prstGeom>
          <a:solidFill>
            <a:srgbClr val="FFE0CC"/>
          </a:solidFill>
          <a:ln/>
        </p:spPr>
      </p:sp>
      <p:sp>
        <p:nvSpPr>
          <p:cNvPr id="11" name="Text 9"/>
          <p:cNvSpPr/>
          <p:nvPr/>
        </p:nvSpPr>
        <p:spPr>
          <a:xfrm>
            <a:off x="4695974" y="2515567"/>
            <a:ext cx="381364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5974" y="2821707"/>
            <a:ext cx="381364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Major UPI Platforms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0406" y="3106936"/>
            <a:ext cx="4061594" cy="715342"/>
          </a:xfrm>
          <a:custGeom>
            <a:avLst/>
            <a:gdLst/>
            <a:ahLst/>
            <a:cxnLst/>
            <a:rect l="l" t="t" r="r" b="b"/>
            <a:pathLst>
              <a:path w="4061594" h="715342">
                <a:moveTo>
                  <a:pt x="0" y="0"/>
                </a:moveTo>
                <a:lnTo>
                  <a:pt x="4061594" y="0"/>
                </a:lnTo>
                <a:lnTo>
                  <a:pt x="4061594" y="715342"/>
                </a:lnTo>
                <a:lnTo>
                  <a:pt x="43416" y="715342"/>
                </a:lnTo>
                <a:arcTo wR="43416" hR="43416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406" y="3106936"/>
            <a:ext cx="4061594" cy="14288"/>
          </a:xfrm>
          <a:prstGeom prst="roundRect">
            <a:avLst>
              <a:gd name="adj" fmla="val 49998"/>
            </a:avLst>
          </a:prstGeom>
          <a:solidFill>
            <a:srgbClr val="FFE0CC"/>
          </a:solidFill>
          <a:ln/>
        </p:spPr>
      </p:sp>
      <p:sp>
        <p:nvSpPr>
          <p:cNvPr id="15" name="Text 13"/>
          <p:cNvSpPr/>
          <p:nvPr/>
        </p:nvSpPr>
        <p:spPr>
          <a:xfrm>
            <a:off x="634380" y="3230910"/>
            <a:ext cx="381364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380" y="3537049"/>
            <a:ext cx="381364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National Transaction Analysis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3106936"/>
            <a:ext cx="4061594" cy="715342"/>
          </a:xfrm>
          <a:custGeom>
            <a:avLst/>
            <a:gdLst/>
            <a:ahLst/>
            <a:cxnLst/>
            <a:rect l="l" t="t" r="r" b="b"/>
            <a:pathLst>
              <a:path w="4061594" h="715342">
                <a:moveTo>
                  <a:pt x="0" y="0"/>
                </a:moveTo>
                <a:lnTo>
                  <a:pt x="4061594" y="0"/>
                </a:lnTo>
                <a:lnTo>
                  <a:pt x="4061594" y="671926"/>
                </a:lnTo>
                <a:arcTo wR="43416" hR="43416" stAng="0" swAng="5400000"/>
                <a:lnTo>
                  <a:pt x="0" y="715342"/>
                </a:lnTo>
                <a:lnTo>
                  <a:pt x="0" y="0"/>
                </a:lnTo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3106936"/>
            <a:ext cx="14288" cy="715342"/>
          </a:xfrm>
          <a:prstGeom prst="roundRect">
            <a:avLst>
              <a:gd name="adj" fmla="val 49998"/>
            </a:avLst>
          </a:prstGeom>
          <a:solidFill>
            <a:srgbClr val="FFE0C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3106936"/>
            <a:ext cx="4061594" cy="14288"/>
          </a:xfrm>
          <a:prstGeom prst="roundRect">
            <a:avLst>
              <a:gd name="adj" fmla="val 49998"/>
            </a:avLst>
          </a:prstGeom>
          <a:solidFill>
            <a:srgbClr val="FFE0CC"/>
          </a:solidFill>
          <a:ln/>
        </p:spPr>
      </p:sp>
      <p:sp>
        <p:nvSpPr>
          <p:cNvPr id="20" name="Text 18"/>
          <p:cNvSpPr/>
          <p:nvPr/>
        </p:nvSpPr>
        <p:spPr>
          <a:xfrm>
            <a:off x="4695974" y="3230910"/>
            <a:ext cx="381364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Report Type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95974" y="3537049"/>
            <a:ext cx="381364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Dashboard Insight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6119" y="3976092"/>
            <a:ext cx="8151763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Power BI analysis of India's digital payment ecosystem — analyzing transaction patterns across </a:t>
            </a:r>
            <a:r>
              <a:rPr lang="en-US" sz="950" b="1" dirty="0">
                <a:solidFill>
                  <a:srgbClr val="00D9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125,406 UPI transactions</a:t>
            </a: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processed between January and July 2024.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497904"/>
            <a:ext cx="4722763" cy="927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kern="0" spc="-2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Overview &amp; Objectives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96119" y="1611139"/>
            <a:ext cx="5179963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Objective: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82154" y="2051447"/>
            <a:ext cx="4536728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"Analyze UPI transaction patterns across applications, banks, transaction types, states, time periods and transaction status using Power BI."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1911921"/>
            <a:ext cx="14288" cy="601563"/>
          </a:xfrm>
          <a:prstGeom prst="roundRect">
            <a:avLst>
              <a:gd name="adj" fmla="val 49998"/>
            </a:avLst>
          </a:prstGeom>
          <a:solidFill>
            <a:srgbClr val="FF954F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2699519"/>
            <a:ext cx="472276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kern="0" spc="-22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Questions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6119" y="3256434"/>
            <a:ext cx="4722763" cy="13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UPI apps have the highest share?</a:t>
            </a:r>
            <a:endParaRPr lang="en-US" sz="12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banks process the highest amount?</a:t>
            </a:r>
            <a:endParaRPr lang="en-US" sz="12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states contribute the most?</a:t>
            </a:r>
            <a:endParaRPr lang="en-US" sz="12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transaction types dominate?</a:t>
            </a:r>
            <a:endParaRPr lang="en-US" sz="12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is activity highest?</a:t>
            </a:r>
            <a:endParaRPr lang="en-US" sz="12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the success rate?</a:t>
            </a:r>
            <a:endParaRPr lang="en-US" sz="12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patterns appear in flagged transactions?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0479"/>
            <a:ext cx="1409105" cy="182538"/>
          </a:xfrm>
          <a:prstGeom prst="roundRect">
            <a:avLst>
              <a:gd name="adj" fmla="val 22120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8151" y="416496"/>
            <a:ext cx="1722239" cy="11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&amp; DATA SOURCE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09526"/>
            <a:ext cx="8151763" cy="44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kern="0" spc="-2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&amp; Data Source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6119" y="1233190"/>
            <a:ext cx="2639616" cy="716831"/>
          </a:xfrm>
          <a:prstGeom prst="roundRect">
            <a:avLst>
              <a:gd name="adj" fmla="val 704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510" y="1367582"/>
            <a:ext cx="2370832" cy="22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510" y="1661889"/>
            <a:ext cx="2370832" cy="153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Kaggle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52118" y="1233190"/>
            <a:ext cx="2639690" cy="716831"/>
          </a:xfrm>
          <a:prstGeom prst="roundRect">
            <a:avLst>
              <a:gd name="adj" fmla="val 704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6510" y="1367582"/>
            <a:ext cx="2370906" cy="22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6510" y="1661889"/>
            <a:ext cx="2370906" cy="153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UPI Transactions Dataset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08191" y="1233190"/>
            <a:ext cx="2639690" cy="716831"/>
          </a:xfrm>
          <a:prstGeom prst="roundRect">
            <a:avLst>
              <a:gd name="adj" fmla="val 704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2583" y="1367582"/>
            <a:ext cx="2370906" cy="22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Analysis Period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42583" y="1661889"/>
            <a:ext cx="2370906" cy="153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January 2024 – July 2024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2066404"/>
            <a:ext cx="2639616" cy="716831"/>
          </a:xfrm>
          <a:prstGeom prst="roundRect">
            <a:avLst>
              <a:gd name="adj" fmla="val 704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510" y="2200796"/>
            <a:ext cx="2370832" cy="22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Records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510" y="2495104"/>
            <a:ext cx="2370832" cy="153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125,406 Transactions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52118" y="2066404"/>
            <a:ext cx="2639690" cy="716831"/>
          </a:xfrm>
          <a:prstGeom prst="roundRect">
            <a:avLst>
              <a:gd name="adj" fmla="val 704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6510" y="2200796"/>
            <a:ext cx="2370906" cy="22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Coverage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86510" y="2495104"/>
            <a:ext cx="2370906" cy="153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08191" y="2066404"/>
            <a:ext cx="2639690" cy="716831"/>
          </a:xfrm>
          <a:prstGeom prst="roundRect">
            <a:avLst>
              <a:gd name="adj" fmla="val 704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2583" y="2200796"/>
            <a:ext cx="2370906" cy="22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Tool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42583" y="2495104"/>
            <a:ext cx="2370906" cy="153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Power BI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6119" y="2957810"/>
            <a:ext cx="8151763" cy="359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kern="0" spc="-22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Fields</a:t>
            </a:r>
            <a:endParaRPr lang="en-US" sz="2150" dirty="0"/>
          </a:p>
        </p:txBody>
      </p:sp>
      <p:sp>
        <p:nvSpPr>
          <p:cNvPr id="24" name="Text 22"/>
          <p:cNvSpPr/>
          <p:nvPr/>
        </p:nvSpPr>
        <p:spPr>
          <a:xfrm>
            <a:off x="496119" y="3596357"/>
            <a:ext cx="3929286" cy="1125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Date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Amount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UPI App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Type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3358" y="3596357"/>
            <a:ext cx="3929286" cy="931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Status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 Type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Merchant Category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Cashback</a:t>
            </a:r>
            <a:endParaRPr lang="en-US" sz="12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Fraud/Flag Status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8585"/>
            <a:ext cx="8151763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kern="0" spc="-2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Preparation &amp; Transformation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746"/>
            <a:ext cx="620167" cy="744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0259" y="1381720"/>
            <a:ext cx="3180457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Kaggle Dataset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001962"/>
            <a:ext cx="620167" cy="7442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0259" y="2125935"/>
            <a:ext cx="3180457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Import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746177"/>
            <a:ext cx="620167" cy="7442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0259" y="2870150"/>
            <a:ext cx="3180457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Cleaning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490392"/>
            <a:ext cx="620167" cy="74421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40259" y="3614365"/>
            <a:ext cx="3180457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Type Validation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1257746"/>
            <a:ext cx="620167" cy="74421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72187" y="1381720"/>
            <a:ext cx="3180457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Transformation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8046" y="2001962"/>
            <a:ext cx="620167" cy="74421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472187" y="2125935"/>
            <a:ext cx="3180457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DAX Measures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046" y="2746177"/>
            <a:ext cx="620167" cy="74421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472187" y="2870150"/>
            <a:ext cx="3180457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Visualization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8046" y="3490392"/>
            <a:ext cx="620167" cy="74421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472187" y="3614365"/>
            <a:ext cx="3180457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19" name="Text 9"/>
          <p:cNvSpPr/>
          <p:nvPr/>
        </p:nvSpPr>
        <p:spPr>
          <a:xfrm>
            <a:off x="496119" y="4513659"/>
            <a:ext cx="8608963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was imported, cleaned, validated, transformed, and prepared for visualization in Power 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9135"/>
            <a:ext cx="1019994" cy="188565"/>
          </a:xfrm>
          <a:prstGeom prst="roundRect">
            <a:avLst>
              <a:gd name="adj" fmla="val 22104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96342"/>
            <a:ext cx="132836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MODELING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97260"/>
            <a:ext cx="8151763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kern="0" spc="-2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Model &amp; DAX Measures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6119" y="1210419"/>
            <a:ext cx="8151763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kern="0" spc="-1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Single-Table Analytical Model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14140"/>
            <a:ext cx="4854550" cy="273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58000" y="1786235"/>
            <a:ext cx="2705244" cy="1997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Transactions</a:t>
            </a:r>
            <a:endParaRPr lang="en-US" sz="16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Transaction Amount</a:t>
            </a:r>
            <a:endParaRPr lang="en-US" sz="16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Cashback</a:t>
            </a:r>
            <a:endParaRPr lang="en-US" sz="16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 Rate</a:t>
            </a:r>
            <a:endParaRPr lang="en-US" sz="1600" dirty="0"/>
          </a:p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Flagged Transactions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D2B0CD65-5D08-F54D-6A0F-DFDA88A51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3" y="0"/>
            <a:ext cx="844013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5940"/>
            <a:ext cx="1131317" cy="167878"/>
          </a:xfrm>
          <a:prstGeom prst="roundRect">
            <a:avLst>
              <a:gd name="adj" fmla="val 22112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2347" y="409054"/>
            <a:ext cx="1456060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83109"/>
            <a:ext cx="8151763" cy="41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00" kern="0" spc="-25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Performance Indicators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143521"/>
            <a:ext cx="81517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following metrics represent the aggregate performance of UPI infrastructure across all major platforms and banking partners for the 7-month analysis window.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1580852"/>
            <a:ext cx="2635300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kern="0" spc="-2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125,406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496119" y="2074366"/>
            <a:ext cx="2635300" cy="206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Transactions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2339801"/>
            <a:ext cx="26353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125,406 transactions were analyzed across the January–July 2024 period.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54350" y="1580852"/>
            <a:ext cx="2635300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kern="0" spc="-2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₹16.37Cr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3254350" y="2074366"/>
            <a:ext cx="2635300" cy="206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Amount Processed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54350" y="2339801"/>
            <a:ext cx="26353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₹16.37 Cr in transaction value was recorded in the dataset.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12582" y="1580852"/>
            <a:ext cx="2635300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kern="0" spc="-2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₹0.79M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012582" y="2074366"/>
            <a:ext cx="2635300" cy="206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Cashback Distributed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12582" y="2339801"/>
            <a:ext cx="26353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₹0.79M in cashback was recorded.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75234" y="2863230"/>
            <a:ext cx="2635300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kern="0" spc="-2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95%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875234" y="3356744"/>
            <a:ext cx="2635300" cy="206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Success Rate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875234" y="3622179"/>
            <a:ext cx="26353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 of transactions were recorded as successful.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33466" y="2863230"/>
            <a:ext cx="2635300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kern="0" spc="-2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231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4633466" y="3356744"/>
            <a:ext cx="2635300" cy="206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Flagged Fraud Cases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33466" y="3622179"/>
            <a:ext cx="26353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231 transactions were flagged during the analysis period.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570" y="4004295"/>
            <a:ext cx="4100215" cy="763191"/>
          </a:xfrm>
          <a:prstGeom prst="roundRect">
            <a:avLst>
              <a:gd name="adj" fmla="val 10423"/>
            </a:avLst>
          </a:prstGeom>
          <a:solidFill>
            <a:srgbClr val="00D9FF">
              <a:alpha val="9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27000" y="4102671"/>
            <a:ext cx="3879354" cy="206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Health Summary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7000" y="4407471"/>
            <a:ext cx="387935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 shows a </a:t>
            </a: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95% transaction success rate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231 flagged transactions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during the January–July 2024 analysis period.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11526" y="4102671"/>
            <a:ext cx="3941118" cy="206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Financial Efficiency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11526" y="4407471"/>
            <a:ext cx="394111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 records </a:t>
            </a:r>
            <a:r>
              <a:rPr lang="en-US" sz="8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₹0.79M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cashback against </a:t>
            </a:r>
            <a:r>
              <a:rPr lang="en-US" sz="8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₹16.37 Cr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total processed volume.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2282"/>
            <a:ext cx="1447279" cy="185514"/>
          </a:xfrm>
          <a:prstGeom prst="roundRect">
            <a:avLst>
              <a:gd name="adj" fmla="val 22116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9342" y="438894"/>
            <a:ext cx="1758032" cy="11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SHARE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35868"/>
            <a:ext cx="8151763" cy="456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kern="0" spc="-2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UPI App Market Share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07691"/>
            <a:ext cx="4349428" cy="29850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8114" y="1392659"/>
            <a:ext cx="3504456" cy="228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Competitive Landscape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8114" y="1756023"/>
            <a:ext cx="1692101" cy="1478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1590" y="1892350"/>
            <a:ext cx="1362298" cy="456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PhonePe — 50.05%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341590" y="2468835"/>
            <a:ext cx="1362298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PhonePe recorded the highest transaction share at 50.05%.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0394" y="1756023"/>
            <a:ext cx="1692176" cy="14789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53870" y="1892350"/>
            <a:ext cx="1362373" cy="456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Google Pay — 21.94%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153870" y="2468835"/>
            <a:ext cx="136237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Pay and Paytm followed with 21.94% and 13.98% respectively.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8114" y="3355181"/>
            <a:ext cx="1692101" cy="12508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1590" y="3491508"/>
            <a:ext cx="1362298" cy="228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Paytm — 13.98%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341590" y="3839840"/>
            <a:ext cx="1362298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Pay and Paytm followed with 21.94% and 13.98% respectively.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0394" y="3355181"/>
            <a:ext cx="1692176" cy="12508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53870" y="3491508"/>
            <a:ext cx="1362373" cy="228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Others — 14.03%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7153870" y="3839840"/>
            <a:ext cx="136237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UPI apps accounted for the remaining 14.03% of transaction share.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1492"/>
            <a:ext cx="1385515" cy="161851"/>
          </a:xfrm>
          <a:prstGeom prst="roundRect">
            <a:avLst>
              <a:gd name="adj" fmla="val 22130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0040" y="423416"/>
            <a:ext cx="1714872" cy="9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BREAKDOWN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89955"/>
            <a:ext cx="8151763" cy="39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0" spc="-2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 Amount by Transaction Type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28725"/>
            <a:ext cx="3945880" cy="28402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6764" y="1217340"/>
            <a:ext cx="3945880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 Case Analysis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476" y="1505173"/>
            <a:ext cx="3960168" cy="5769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1900" y="1519461"/>
            <a:ext cx="3810744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Person-to-Person (P2P) — ₹72M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41900" y="1810196"/>
            <a:ext cx="3810744" cy="257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P2P recorded the highest transaction amount among the transaction types analyzed.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2476" y="2236738"/>
            <a:ext cx="3960168" cy="7057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41900" y="2251025"/>
            <a:ext cx="3810744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009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Person-to-Merchant (P2M) — ₹50M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841900" y="2541761"/>
            <a:ext cx="3810744" cy="386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Retail and commerce segment at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32.5% share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QR-code adoption at kirana stores, restaurants, and e-commerce checkouts is accelerating P2M growth.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2476" y="3097113"/>
            <a:ext cx="3960168" cy="7057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41900" y="3111401"/>
            <a:ext cx="3810744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00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Bill Payments — ₹24M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41900" y="3402137"/>
            <a:ext cx="3810744" cy="386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Utilities and subscriptions at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15.6% share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BBPS integration has made UPI the default channel for electricity, water, and OTT subscription payments.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2476" y="3957489"/>
            <a:ext cx="3960168" cy="7057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41900" y="3971776"/>
            <a:ext cx="3810744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Mobile Recharge — ₹8M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841900" y="4262512"/>
            <a:ext cx="3810744" cy="386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Telecom services at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5.2% share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The smallest category — competitive prepaid plans have reduced recharge frequency but sustained baseline volume.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6964"/>
            <a:ext cx="1483519" cy="176585"/>
          </a:xfrm>
          <a:prstGeom prst="roundRect">
            <a:avLst>
              <a:gd name="adj" fmla="val 2212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5845" y="391790"/>
            <a:ext cx="1801267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BANKING INFRASTRUCTURE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77155"/>
            <a:ext cx="8151763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kern="0" spc="-2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Bank-wise Transaction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6119" y="1284238"/>
            <a:ext cx="393404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Bank Performance Breakdown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1610618"/>
            <a:ext cx="3934048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chart compares transaction amounts across the banks shown, highlighting the relative throughput of each institution in the data set.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2172593"/>
            <a:ext cx="1912516" cy="880318"/>
          </a:xfrm>
          <a:prstGeom prst="roundRect">
            <a:avLst>
              <a:gd name="adj" fmla="val 554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641" y="2303115"/>
            <a:ext cx="165147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SBI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641" y="2629495"/>
            <a:ext cx="1651471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₹42M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Leader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7651" y="2172593"/>
            <a:ext cx="1912516" cy="880318"/>
          </a:xfrm>
          <a:prstGeom prst="roundRect">
            <a:avLst>
              <a:gd name="adj" fmla="val 554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8173" y="2303115"/>
            <a:ext cx="165147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009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HDFC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48173" y="2629495"/>
            <a:ext cx="1651471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₹18M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Sector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3161928"/>
            <a:ext cx="1912516" cy="880318"/>
          </a:xfrm>
          <a:prstGeom prst="roundRect">
            <a:avLst>
              <a:gd name="adj" fmla="val 554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641" y="3292450"/>
            <a:ext cx="165147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009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Axis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641" y="3618830"/>
            <a:ext cx="1651471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₹18M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7651" y="3161928"/>
            <a:ext cx="1912516" cy="880318"/>
          </a:xfrm>
          <a:prstGeom prst="roundRect">
            <a:avLst>
              <a:gd name="adj" fmla="val 554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8173" y="3292450"/>
            <a:ext cx="165147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00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ICICI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48173" y="3618830"/>
            <a:ext cx="1651471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₹16M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Established</a:t>
            </a:r>
            <a:endParaRPr lang="en-US" sz="9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596" y="1297856"/>
            <a:ext cx="3934048" cy="2831753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96119" y="4374877"/>
            <a:ext cx="8151763" cy="411584"/>
          </a:xfrm>
          <a:prstGeom prst="roundRect">
            <a:avLst>
              <a:gd name="adj" fmla="val 11867"/>
            </a:avLst>
          </a:prstGeom>
          <a:solidFill>
            <a:srgbClr val="FFE0CC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53" y="4512915"/>
            <a:ext cx="145331" cy="11623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919" y="4512915"/>
            <a:ext cx="811492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Insight: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SBI recorded the highest transaction amount among the banks shown.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8453"/>
            <a:ext cx="1511052" cy="176585"/>
          </a:xfrm>
          <a:prstGeom prst="roundRect">
            <a:avLst>
              <a:gd name="adj" fmla="val 2212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5845" y="393278"/>
            <a:ext cx="1828800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INTELLIGENCE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78644"/>
            <a:ext cx="8151763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kern="0" spc="-2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State-wise Transaction Analysis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99344"/>
            <a:ext cx="4355753" cy="29893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0300" y="1285726"/>
            <a:ext cx="351226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State-Level Insights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0300" y="1625724"/>
            <a:ext cx="1701626" cy="13905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27972" y="1756246"/>
            <a:ext cx="1383432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Maharashtra — ₹2.4 Cr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27972" y="2299990"/>
            <a:ext cx="1383432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Maharashtra recorded the highest transaction amount among the states analyzed.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0943" y="1625724"/>
            <a:ext cx="1701626" cy="13905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8615" y="1756246"/>
            <a:ext cx="1383432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009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Uttar Pradesh — ₹2.0 Cr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138615" y="2299990"/>
            <a:ext cx="1383432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Uttar Pradesh ranked second among the states shown.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0300" y="3125316"/>
            <a:ext cx="1701626" cy="15370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27972" y="3255838"/>
            <a:ext cx="1383432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00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Telangana — ₹1.2 Cr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327972" y="3799582"/>
            <a:ext cx="1383432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transaction activity is visible at the state level.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0943" y="3125316"/>
            <a:ext cx="1701626" cy="153702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38615" y="3255838"/>
            <a:ext cx="1383432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Tamil Nadu &amp; Gujarat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138615" y="3799582"/>
            <a:ext cx="1383432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Tamil Nadu (₹1.0 Cr) and Gujarat (₹0.8 Cr) round out the distribution across the states analyzed.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114"/>
            <a:ext cx="687288" cy="94283"/>
          </a:xfrm>
          <a:prstGeom prst="roundRect">
            <a:avLst>
              <a:gd name="adj" fmla="val 22103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33326" y="359718"/>
            <a:ext cx="1070074" cy="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BEHAVIORAL PATTERNS</a:t>
            </a:r>
            <a:endParaRPr lang="en-US" sz="350" dirty="0"/>
          </a:p>
        </p:txBody>
      </p:sp>
      <p:sp>
        <p:nvSpPr>
          <p:cNvPr id="4" name="Text 2"/>
          <p:cNvSpPr/>
          <p:nvPr/>
        </p:nvSpPr>
        <p:spPr>
          <a:xfrm>
            <a:off x="496119" y="447749"/>
            <a:ext cx="8151763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 Timing &amp; Behavioral Patterns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5847" y="821234"/>
            <a:ext cx="4380676" cy="388125"/>
          </a:xfrm>
          <a:prstGeom prst="roundRect">
            <a:avLst>
              <a:gd name="adj" fmla="val 6394"/>
            </a:avLst>
          </a:prstGeom>
          <a:solidFill>
            <a:srgbClr val="FFFFF4"/>
          </a:solidFill>
          <a:ln w="4763">
            <a:solidFill>
              <a:srgbClr val="FFE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163" y="839353"/>
            <a:ext cx="3926904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-7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⚡</a:t>
            </a:r>
            <a:r>
              <a:rPr lang="en-US" sz="1100" kern="0" spc="-7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Peak Window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7199" y="1029062"/>
            <a:ext cx="3926904" cy="13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1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 PM – 8 PM</a:t>
            </a:r>
            <a:endParaRPr lang="en-US" sz="1000" dirty="0"/>
          </a:p>
          <a:p>
            <a:pPr marL="0" indent="0" algn="l">
              <a:lnSpc>
                <a:spcPct val="81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87478" y="821234"/>
            <a:ext cx="4380675" cy="424642"/>
          </a:xfrm>
          <a:prstGeom prst="roundRect">
            <a:avLst>
              <a:gd name="adj" fmla="val 6394"/>
            </a:avLst>
          </a:prstGeom>
          <a:solidFill>
            <a:srgbClr val="FFFFF4"/>
          </a:solidFill>
          <a:ln w="4763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7478" y="839352"/>
            <a:ext cx="3926904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-7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📅</a:t>
            </a:r>
            <a:r>
              <a:rPr lang="en-US" sz="1100" kern="0" spc="-7" dirty="0">
                <a:solidFill>
                  <a:srgbClr val="009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Highest Volume Days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54228" y="1077706"/>
            <a:ext cx="3926904" cy="13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1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Friday &amp; Monday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5847" y="1259608"/>
            <a:ext cx="4380675" cy="396804"/>
          </a:xfrm>
          <a:prstGeom prst="roundRect">
            <a:avLst>
              <a:gd name="adj" fmla="val 6394"/>
            </a:avLst>
          </a:prstGeom>
          <a:solidFill>
            <a:srgbClr val="FFFFF4"/>
          </a:solidFill>
          <a:ln w="4763">
            <a:solidFill>
              <a:srgbClr val="FFE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163" y="1264983"/>
            <a:ext cx="3926904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-7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🌙</a:t>
            </a:r>
            <a:r>
              <a:rPr lang="en-US" sz="1100" kern="0" spc="-7" dirty="0">
                <a:solidFill>
                  <a:srgbClr val="00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Off-Peak Hours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868" y="1460822"/>
            <a:ext cx="3926904" cy="13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1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AM – 6 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7478" y="1259607"/>
            <a:ext cx="4380675" cy="411741"/>
          </a:xfrm>
          <a:prstGeom prst="roundRect">
            <a:avLst>
              <a:gd name="adj" fmla="val 6394"/>
            </a:avLst>
          </a:prstGeom>
          <a:solidFill>
            <a:srgbClr val="FFFFF4"/>
          </a:solidFill>
          <a:ln w="4763">
            <a:solidFill>
              <a:srgbClr val="FFE0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9654" y="1278209"/>
            <a:ext cx="3926904" cy="11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-7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📊</a:t>
            </a:r>
            <a:r>
              <a:rPr lang="en-US" sz="1100" kern="0" spc="-7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Pattern Consistency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54226" y="1503228"/>
            <a:ext cx="3926904" cy="13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1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Predictable Daily Cycles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56412"/>
            <a:ext cx="8151763" cy="346742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053268" y="1810604"/>
            <a:ext cx="1426538" cy="26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kern="0" spc="-16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Off-Peak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2053268" y="2136865"/>
            <a:ext cx="1426538" cy="39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2AM–6AM minimal load, maintenance window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7039" y="4308655"/>
            <a:ext cx="1434377" cy="26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kern="0" spc="-16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Ramp-Up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3937038" y="4615214"/>
            <a:ext cx="1434377" cy="39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6AM–12PM moderate activity, morning commerce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03938" y="1783170"/>
            <a:ext cx="1426539" cy="26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kern="0" spc="-16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Peak Surge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5603938" y="2109432"/>
            <a:ext cx="1426539" cy="39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12PM–8PM maximum volume, lunch and evening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780678" cy="132457"/>
          </a:xfrm>
          <a:prstGeom prst="roundRect">
            <a:avLst>
              <a:gd name="adj" fmla="val 22125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48432" y="415975"/>
            <a:ext cx="1133252" cy="80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&amp; RELIABILITY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46795"/>
            <a:ext cx="8151763" cy="3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 Risk &amp; Reliability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433388" y="964778"/>
            <a:ext cx="3258517" cy="3788866"/>
          </a:xfrm>
          <a:prstGeom prst="roundRect">
            <a:avLst>
              <a:gd name="adj" fmla="val 1927"/>
            </a:avLst>
          </a:prstGeom>
          <a:solidFill>
            <a:srgbClr val="00D9FF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0601" y="1026096"/>
            <a:ext cx="308409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Health Scorecard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26232" y="1824930"/>
            <a:ext cx="10727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95%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509" y="1279847"/>
            <a:ext cx="1308274" cy="13082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0601" y="2671242"/>
            <a:ext cx="308409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 Success Rate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526232" y="3523729"/>
            <a:ext cx="10727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0.18%</a:t>
            </a:r>
            <a:endParaRPr lang="en-US" sz="1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509" y="2978646"/>
            <a:ext cx="1308274" cy="13082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601" y="4370040"/>
            <a:ext cx="308409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Flagged Transaction Rate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20601" y="4601989"/>
            <a:ext cx="3541291" cy="9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231</a:t>
            </a: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Flagged Transactions out of </a:t>
            </a:r>
            <a:r>
              <a:rPr lang="en-US" sz="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125,406</a:t>
            </a: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Total Transactions.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846612" y="1026096"/>
            <a:ext cx="4805958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Reliability Analysis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104159" y="1285280"/>
            <a:ext cx="454841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95% Transaction Success Rate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104159" y="1509564"/>
            <a:ext cx="4548411" cy="9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 of transactions in the dataset were recorded as successful.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4104159" y="1755949"/>
            <a:ext cx="454841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9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0.18% Flagged Transaction Rate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104159" y="1980233"/>
            <a:ext cx="4548411" cy="9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Flagged transactions represent approximately 0.18% of the total transactions.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4104159" y="2226618"/>
            <a:ext cx="454841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231 Flagged Transactions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104159" y="2450902"/>
            <a:ext cx="4548411" cy="9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231 transactions were flagged out of 125,406 total transactions.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4104159" y="2697287"/>
            <a:ext cx="454841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Further Analysis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104159" y="2921571"/>
            <a:ext cx="4548411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failures and flagged cases can be further analyzed by app, bank, state, device and time period.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583010"/>
            <a:ext cx="1670893" cy="188565"/>
          </a:xfrm>
          <a:prstGeom prst="roundRect">
            <a:avLst>
              <a:gd name="adj" fmla="val 22104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620217"/>
            <a:ext cx="197926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FUNCTIONALITY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821135"/>
            <a:ext cx="8151763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kern="0" spc="-2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Interactive Dashboard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6119" y="2470770"/>
            <a:ext cx="8608963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slicers allow users to filter the dashboard and explore transaction patterns across different dimensions.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771552"/>
            <a:ext cx="248022" cy="2480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145" y="2810247"/>
            <a:ext cx="2210842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UPI App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2771552"/>
            <a:ext cx="248022" cy="2480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68018" y="2810247"/>
            <a:ext cx="221091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Bank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939" y="2771552"/>
            <a:ext cx="248022" cy="2480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6965" y="2810247"/>
            <a:ext cx="221091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State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89995"/>
            <a:ext cx="248022" cy="2480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145" y="3328690"/>
            <a:ext cx="2210842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 Status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4991" y="3289995"/>
            <a:ext cx="248022" cy="24802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668018" y="3328690"/>
            <a:ext cx="221091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Device Type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3939" y="3289995"/>
            <a:ext cx="248022" cy="24802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36965" y="3328690"/>
            <a:ext cx="221091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Merchant Category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74117"/>
            <a:ext cx="849585" cy="188565"/>
          </a:xfrm>
          <a:prstGeom prst="roundRect">
            <a:avLst>
              <a:gd name="adj" fmla="val 22104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711324"/>
            <a:ext cx="115795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12242"/>
            <a:ext cx="8151763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kern="0" spc="-2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Insights &amp; Findings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01403"/>
            <a:ext cx="3924598" cy="793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267" y="1977182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30498" y="1839664"/>
            <a:ext cx="315195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APP PERFORMANCE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30498" y="2195364"/>
            <a:ext cx="315195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PhonePe: 50.05% market share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618854"/>
            <a:ext cx="3924598" cy="7934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267" y="2894633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30498" y="2757115"/>
            <a:ext cx="315195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 TYPE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30498" y="3112815"/>
            <a:ext cx="315195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P2P: ₹72M highest amount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36305"/>
            <a:ext cx="3924598" cy="7934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267" y="3812084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30498" y="3674566"/>
            <a:ext cx="315195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30498" y="4030266"/>
            <a:ext cx="315195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Maharashtra: ₹2.4 Cr highest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46" y="1701403"/>
            <a:ext cx="3924598" cy="7934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90195" y="1977182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362426" y="1839664"/>
            <a:ext cx="315195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BANKING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362426" y="2195364"/>
            <a:ext cx="315195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SBI: ₹42M highest amount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46" y="2618854"/>
            <a:ext cx="3924598" cy="79347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90195" y="2894633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</a:rPr>
              <a:t>5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362426" y="2757115"/>
            <a:ext cx="315195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PATTERN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62426" y="3112815"/>
            <a:ext cx="315195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Peak: 12 PM – 8 PM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46" y="3536305"/>
            <a:ext cx="3924598" cy="79347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90195" y="3812084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</a:rPr>
              <a:t>6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5362426" y="3674566"/>
            <a:ext cx="3151956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spc="-14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362426" y="4030266"/>
            <a:ext cx="315195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 Rate: 95%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2425"/>
            <a:ext cx="1019621" cy="129480"/>
          </a:xfrm>
          <a:prstGeom prst="roundRect">
            <a:avLst>
              <a:gd name="adj" fmla="val 22131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47241" y="377949"/>
            <a:ext cx="1374577" cy="78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CONCLUSIONS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05346"/>
            <a:ext cx="8151763" cy="31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Takeaways &amp; Strategic Insights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6119" y="911944"/>
            <a:ext cx="8608963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evidence-based conclusions derived from the Jan–Jul 2024 UPI transaction dataset, with direct implications for platform strategy, infrastructure investment, and market development.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71414"/>
            <a:ext cx="8151763" cy="571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7442" y="1273820"/>
            <a:ext cx="127918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kern="0" spc="-1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05321" y="1166217"/>
            <a:ext cx="7647756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UPI Dominance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05321" y="1360661"/>
            <a:ext cx="7647756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125,406 transactions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7 months confirm India's digital payment revolution is no longer nascent — it is structural. UPI has become the default payment rail for both retail and commerce.</a:t>
            </a:r>
            <a:endParaRPr lang="en-US" sz="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01105"/>
            <a:ext cx="8151763" cy="5711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7442" y="1903512"/>
            <a:ext cx="127918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kern="0" spc="-1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05321" y="1795909"/>
            <a:ext cx="7647756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PhonePe Leadership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05321" y="1990353"/>
            <a:ext cx="7647756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50% market share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reflects durable competitive moats — merchant network density, SuperApp features, and BBPS integration create strong switching costs for PhonePe's installed base.</a:t>
            </a:r>
            <a:endParaRPr lang="en-US" sz="6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30797"/>
            <a:ext cx="8151763" cy="5711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7442" y="2533204"/>
            <a:ext cx="127918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kern="0" spc="-1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905321" y="2425601"/>
            <a:ext cx="7647756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P2P Strength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905321" y="2620045"/>
            <a:ext cx="7647756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₹72M in peer transfers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validates UPI's core value proposition. The dominance of P2P over P2M signals continued opportunity to convert informal cash transfers to digital — particularly in semi-urban markets.</a:t>
            </a:r>
            <a:endParaRPr lang="en-US" sz="6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60489"/>
            <a:ext cx="8151763" cy="5711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7442" y="3162895"/>
            <a:ext cx="127918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kern="0" spc="-1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905321" y="3055293"/>
            <a:ext cx="7647756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Geographic Concentration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905321" y="3249737"/>
            <a:ext cx="7647756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Maharashtra and UP account for approximately </a:t>
            </a:r>
            <a:r>
              <a:rPr lang="en-US" sz="6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44% of volume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Tier-2 and Tier-3 cities represent the next growth frontier — lower smartphone penetration and merchant QR density are the key addressable gaps.</a:t>
            </a:r>
            <a:endParaRPr lang="en-US" sz="6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90181"/>
            <a:ext cx="8151763" cy="5711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7442" y="3792587"/>
            <a:ext cx="127918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kern="0" spc="-1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905321" y="3684984"/>
            <a:ext cx="7647756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Infrastructure Resilience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905321" y="3879428"/>
            <a:ext cx="7647756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r>
              <a:rPr lang="en-US" sz="6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95% success rate and 0.18% fraud incidence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125K+ transactions validate NPCI's system maturity. The UPI stack is ready to support the next order-of-magnitude volume increase.</a:t>
            </a:r>
            <a:endParaRPr lang="en-US" sz="6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219873"/>
            <a:ext cx="8151763" cy="5711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07442" y="4422279"/>
            <a:ext cx="127918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kern="0" spc="-1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905321" y="4314676"/>
            <a:ext cx="7647756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-10" dirty="0">
                <a:solidFill>
                  <a:srgbClr val="00D9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Peak Hour Optimization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905321" y="4509120"/>
            <a:ext cx="7647756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6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 PM – 8 PM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concentration window, combined with Friday–Monday volume spikes, enables highly targeted capacity planning — proactive scaling in this window can reduce the 5% failure rate significantly.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9735"/>
            <a:ext cx="1086966" cy="164902"/>
          </a:xfrm>
          <a:prstGeom prst="roundRect">
            <a:avLst>
              <a:gd name="adj" fmla="val 22116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1231" y="412254"/>
            <a:ext cx="1413942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OUTLOOK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82588"/>
            <a:ext cx="8151763" cy="405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50" kern="0" spc="-25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 &amp; Future Scope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96119" y="1026096"/>
            <a:ext cx="8151763" cy="3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96119" y="1493044"/>
            <a:ext cx="8608963" cy="13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Power BI dashboard provides an interactive view of UPI transaction behavior across applications, banks, states, transaction types and time periods.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767780"/>
            <a:ext cx="8151763" cy="3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Outcomes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96119" y="2234729"/>
            <a:ext cx="8151763" cy="95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Identified leading UPI applications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Analyzed transaction types and transaction values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Compared bank and state performance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Identified peak transaction periods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Analyzed transaction success and flagged cases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Enabled interactive filtering for deeper analysis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3336950"/>
            <a:ext cx="8151763" cy="3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Scope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96119" y="3803898"/>
            <a:ext cx="8151763" cy="95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more recent transaction data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month-over-month growth analysis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city-level analysis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predictive analytics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advanced fraud-risk analysis</a:t>
            </a:r>
            <a:endParaRPr lang="en-US" sz="850" dirty="0"/>
          </a:p>
          <a:p>
            <a:pPr marL="172720" indent="-172720" algn="l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additional KPIs and drill-through pages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75</TotalTime>
  <Words>1361</Words>
  <Application>Microsoft Office PowerPoint</Application>
  <PresentationFormat>On-screen Show (16:9)</PresentationFormat>
  <Paragraphs>259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Arial</vt:lpstr>
      <vt:lpstr>Montserrat</vt:lpstr>
      <vt:lpstr>Montserrat Bold</vt:lpstr>
      <vt:lpstr>Marcellus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Tanzeem Hundekari</cp:lastModifiedBy>
  <cp:revision>7</cp:revision>
  <dcterms:created xsi:type="dcterms:W3CDTF">2026-08-10T02:04:14Z</dcterms:created>
  <dcterms:modified xsi:type="dcterms:W3CDTF">2026-08-10T06:59:18Z</dcterms:modified>
</cp:coreProperties>
</file>